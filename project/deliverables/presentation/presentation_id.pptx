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~1.5 menit. Pertanyaan mungkin: kenapa 30 baris dipertahankan? → boundary cutoff 50, bukan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~2 menit. Pertanyaan: kenapa screen_time_ratio dihapus? → reskala linier, tak ada info baru.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~2 menit. Pertanyaan: tahap EDA apa saja? → univariate, bivariate, outlier (3 tahap).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~2 menit. Pertanyaan mungkin: kenapa sleep tidak direkomendasikan walau signifikan? → r²=0.08% (effect size).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~2 menit. Pertanyaan mungkin: kenapa demografi tak signifikan? → dataset; yang berarti perilaku, bukan ascribed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~2 menit. Pertanyaan mungkin: bukannya selisih cuma 1%? → lanjut slide 12 (uji signifikansi).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~2.5 menit (slide terpenting). Pertanyaan paling tajam: kenapa 0.48% bisa signifikan? → konsistensi antar-fold.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~1.5 menit. Pertanyaan mungkin: apa gunanya model 75%? → aksiionabel &amp; jauh di atas baseline 51%.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~1.5 menit. Slide nilai-jual: tunjukkan koherensi. Pertanyaan: apa kontribusi utama? → kerangka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9FB6CC"/>
                </a:solidFill>
                <a:latin typeface="Calibri"/>
              </a:rPr>
              <a:t>TELKOM UNIVERSITY  •  S2 Informatika — Prinsip Sains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libri"/>
              </a:rPr>
              <a:t>Analisis Perilaku Siswa untuk Prediksi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Performa Ujian Menggunakan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86C1"/>
                </a:solidFill>
                <a:latin typeface="Calibri"/>
              </a:rPr>
              <a:t>Final Report — Data Science Project (Week 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0" i="0">
                <a:solidFill>
                  <a:srgbClr val="FFFFFF"/>
                </a:solidFill>
                <a:latin typeface="Calibri"/>
              </a:rPr>
              <a:t>Salman Rachmadi  (203012420009)</a:t>
            </a:r>
          </a:p>
          <a:p>
            <a:r>
              <a:rPr sz="1600" b="0" i="0">
                <a:solidFill>
                  <a:srgbClr val="FFFFFF"/>
                </a:solidFill>
                <a:latin typeface="Calibri"/>
              </a:rPr>
              <a:t>Pembimbing: Dr. Warih Maharani</a:t>
            </a:r>
          </a:p>
          <a:p>
            <a:r>
              <a:rPr sz="1600" b="0" i="0">
                <a:solidFill>
                  <a:srgbClr val="FFFFFF"/>
                </a:solidFill>
                <a:latin typeface="Calibri"/>
              </a:rPr>
              <a:t>Academic Year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2000" b="1" i="0">
                <a:solidFill>
                  <a:srgbClr val="2E86C1"/>
                </a:solidFill>
                <a:latin typeface="Calibri"/>
              </a:rPr>
              <a:t>1. 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Latar belakang &amp; rumusan masalah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2000" b="1" i="0">
                <a:solidFill>
                  <a:srgbClr val="2E86C1"/>
                </a:solidFill>
                <a:latin typeface="Calibri"/>
              </a:rPr>
              <a:t>2. 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Tujuan dan pertanyaan penelitian (RQ1–RQ2 / H1–H2)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2000" b="1" i="0">
                <a:solidFill>
                  <a:srgbClr val="2E86C1"/>
                </a:solidFill>
                <a:latin typeface="Calibri"/>
              </a:rPr>
              <a:t>3. 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Dataset, data preparation &amp; feature engineering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2000" b="1" i="0">
                <a:solidFill>
                  <a:srgbClr val="2E86C1"/>
                </a:solidFill>
                <a:latin typeface="Calibri"/>
              </a:rPr>
              <a:t>4. 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Metodologi &amp; EDA (rigor statistik)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2000" b="1" i="0">
                <a:solidFill>
                  <a:srgbClr val="2E86C1"/>
                </a:solidFill>
                <a:latin typeface="Calibri"/>
              </a:rPr>
              <a:t>5. 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Hasil: korelasi (H1) &amp; klasifikasi (H2)</a:t>
            </a:r>
          </a:p>
          <a:p>
            <a:pPr>
              <a:spcAft>
                <a:spcPts val="600"/>
              </a:spcAft>
            </a:pPr>
            <a:r>
              <a:rPr sz="20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2000" b="1" i="0">
                <a:solidFill>
                  <a:srgbClr val="2E86C1"/>
                </a:solidFill>
                <a:latin typeface="Calibri"/>
              </a:rPr>
              <a:t>6. 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Feature importance, ablation, sintesis, kesimpulan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1. Latar Belakang &amp; 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Performa ujian dipengaruhi faktor perilaku di luar kemampuan kognitif murni.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Pendidik jarang punya perangkat berbasis data untuk deteksi dini siswa at-risk.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Tanpa intervensi tertarget, siswa dengan kebiasaan belajar buruk terus tertinggal.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Pertanyaan inti: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perilaku mana yang </a:t>
            </a:r>
            <a:r>
              <a:rPr sz="1800" b="1" i="0">
                <a:solidFill>
                  <a:srgbClr val="27AE60"/>
                </a:solidFill>
                <a:latin typeface="Calibri"/>
              </a:rPr>
              <a:t>dapat diintervensi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, dan apakah ML benar-benar menambah nilai?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Fokus proyek: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faktor yang </a:t>
            </a:r>
            <a:r>
              <a:rPr sz="1800" b="1" i="0">
                <a:solidFill>
                  <a:srgbClr val="F39C12"/>
                </a:solidFill>
                <a:latin typeface="Calibri"/>
              </a:rPr>
              <a:t>actionable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(bisa ditindaklanjuti), bukan sekadar prediktif.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Output yang dicari: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bukti empiris + rekomendasi intervensi berbasis perilaku.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2. Tujuan &amp; Pertanyaan Penelitian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800" b="1" i="0">
                <a:solidFill>
                  <a:srgbClr val="2E86C1"/>
                </a:solidFill>
                <a:latin typeface="Calibri"/>
              </a:rPr>
              <a:t>RQ1/H1 —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faktor perilaku yang berkorelasi dengan performa  </a:t>
            </a:r>
            <a:r>
              <a:rPr sz="1800" b="1" i="0">
                <a:solidFill>
                  <a:srgbClr val="27AE60"/>
                </a:solidFill>
                <a:latin typeface="Calibri"/>
              </a:rPr>
              <a:t>→ DITERIMA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800" b="1" i="0">
                <a:solidFill>
                  <a:srgbClr val="2E86C1"/>
                </a:solidFill>
                <a:latin typeface="Calibri"/>
              </a:rPr>
              <a:t>RQ2/H2 —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efektivitas klasifikasi; apakah RF &gt; LR?  </a:t>
            </a:r>
            <a:r>
              <a:rPr sz="1800" b="1" i="0">
                <a:solidFill>
                  <a:srgbClr val="F39C12"/>
                </a:solidFill>
                <a:latin typeface="Calibri"/>
              </a:rPr>
              <a:t>→ TIDAK DIDUKUNG (LR unggul)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KPI: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akurasi klasifikasi </a:t>
            </a:r>
            <a:r>
              <a:rPr sz="1800" b="1" i="0">
                <a:solidFill>
                  <a:srgbClr val="27AE60"/>
                </a:solidFill>
                <a:latin typeface="Calibri"/>
              </a:rPr>
              <a:t>≥ 80%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 — tercapai (LR 87.05%, RF 86.05%).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800" b="1" i="0">
                <a:solidFill>
                  <a:srgbClr val="333333"/>
                </a:solidFill>
                <a:latin typeface="Calibri"/>
              </a:rPr>
              <a:t>Pendekatan: </a:t>
            </a:r>
            <a:r>
              <a:rPr sz="1800" b="0" i="0">
                <a:solidFill>
                  <a:srgbClr val="333333"/>
                </a:solidFill>
                <a:latin typeface="Calibri"/>
              </a:rPr>
              <a:t>CRISP-DM end-to-end dengan rigor statistik (effect size, 95% CI, koreksi multiple-comparison).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3.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583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Sumber: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Student Exam Performance (Kaggle) — 10.000 siswa, 23 kolom mentah.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Target: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pass_fail (biner, cutoff skor = 50). Seimbang: Pass 48.6% / Fail 51.4%.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Evolusi fitur: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23 → 18 (drop 5 skor internal) → 19 fitur modeling (rinci di slide berikut).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Catatan data: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0 missing, 0 duplikat, 8 kolom kategorikal tervalidasi.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74C3C"/>
                </a:solidFill>
                <a:latin typeface="Calibri"/>
              </a:rPr>
              <a:t>Caveat penting: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provenans tidak terverifikasi (kemungkinan sintetis) → temuan = kontribusi metodologis, butuh validasi.</a:t>
            </a:r>
          </a:p>
        </p:txBody>
      </p:sp>
      <p:pic>
        <p:nvPicPr>
          <p:cNvPr id="7" name="Picture 6" descr="01_numeric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4572000" cy="3013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4. Metodologi (Pipeline CRISP-DM)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Cleaning (nb02):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validasi konsistensi, IQR outlier (dipertahankan), drop 5 kolom skor internal.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Feature engineering (nb03):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encoding 6 kategorikal + 5 fitur perilaku turunan; screen_time_ratio dihapus.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EDA (nb04):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univariate, bivariate (korelasi), deteksi outlier.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Uji statistik (nb06):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Pearson, t-test, ANOVA + </a:t>
            </a:r>
            <a:r>
              <a:rPr sz="1600" b="1" i="0">
                <a:solidFill>
                  <a:srgbClr val="F39C12"/>
                </a:solidFill>
                <a:latin typeface="Calibri"/>
              </a:rPr>
              <a:t>effect size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(Cohen's d, η²), 95% CI (Fisher-z), koreksi </a:t>
            </a:r>
            <a:r>
              <a:rPr sz="1600" b="1" i="0">
                <a:solidFill>
                  <a:srgbClr val="F39C12"/>
                </a:solidFill>
                <a:latin typeface="Calibri"/>
              </a:rPr>
              <a:t>Benjamini-Hochberg FDR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Modeling (nb07):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LR vs RF + GridSearchCV tuning, stratified 80/20, 5-fold StratifiedKFold CV.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Perbandingan model: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corrected resampled t-test (Nadeau-Bengio) — menghormati overlap antar-fold.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600" b="1" i="0">
                <a:solidFill>
                  <a:srgbClr val="E74C3C"/>
                </a:solidFill>
                <a:latin typeface="Calibri"/>
              </a:rPr>
              <a:t>Prinsip utama: 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di N = 10.000 signifikansi statistik murah → </a:t>
            </a:r>
            <a:r>
              <a:rPr sz="1600" b="1" i="0">
                <a:solidFill>
                  <a:srgbClr val="E74C3C"/>
                </a:solidFill>
                <a:latin typeface="Calibri"/>
              </a:rPr>
              <a:t>effect size wajib dilaporkan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5. Data Preparation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Data Cleaning (nb02):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23 kolom → </a:t>
            </a:r>
            <a:r>
              <a:rPr sz="1100" b="1" i="0">
                <a:solidFill>
                  <a:srgbClr val="2E86C1"/>
                </a:solidFill>
                <a:latin typeface="Calibri"/>
              </a:rPr>
              <a:t>18 kolom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(drop 5 skor internal: math, reading, writing, science, participation).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IQR outlier </a:t>
            </a:r>
            <a:r>
              <a:rPr sz="1100" b="1" i="0">
                <a:solidFill>
                  <a:srgbClr val="F39C12"/>
                </a:solidFill>
                <a:latin typeface="Calibri"/>
              </a:rPr>
              <a:t>398 flag — DIPERTAHANKAN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(variasi perilaku valid, bukan error).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30 baris grade/passFail inkonsisten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(semua di skor = 50, boundary) — dipertahankan.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Standardisasi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8 kolom string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; konsistensi kategorikal tervalidasi.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18872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Feature Engineering (nb03):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5 fitur perilaku baru:</a:t>
            </a:r>
          </a:p>
          <a:p>
            <a:pPr lvl="2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productive_hours = study + sleep</a:t>
            </a:r>
          </a:p>
          <a:p>
            <a:pPr lvl="2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study_attendance = study × attendance (interaksi)</a:t>
            </a:r>
          </a:p>
          <a:p>
            <a:pPr lvl="2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engagement_score = (assignment + attendance)/2</a:t>
            </a:r>
          </a:p>
          <a:p>
            <a:pPr lvl="2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disadvantage_index = no internet + no tutoring + low income</a:t>
            </a:r>
          </a:p>
          <a:p>
            <a:pPr lvl="2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social_study_ratio = social_media ÷ study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1" i="0">
                <a:solidFill>
                  <a:srgbClr val="333333"/>
                </a:solidFill>
                <a:latin typeface="Calibri"/>
              </a:rPr>
              <a:t>Encoding: 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6 kategorikal → biner/ordinal + grade one-hot (5).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100" b="1" i="0">
                <a:solidFill>
                  <a:srgbClr val="E74C3C"/>
                </a:solidFill>
                <a:latin typeface="Calibri"/>
              </a:rPr>
              <a:t>screen_time_ratio DIHAPUS</a:t>
            </a:r>
            <a:r>
              <a:rPr sz="1100" b="0" i="0">
                <a:solidFill>
                  <a:srgbClr val="333333"/>
                </a:solidFill>
                <a:latin typeface="Calibri"/>
              </a:rPr>
              <a:t> — redundan (reskala linier social_media).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Funnel fitur:  </a:t>
            </a:r>
            <a:r>
              <a:rPr sz="1400" b="1" i="0">
                <a:solidFill>
                  <a:srgbClr val="2E86C1"/>
                </a:solidFill>
                <a:latin typeface="Calibri"/>
              </a:rPr>
              <a:t>23 mentah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 →  </a:t>
            </a:r>
            <a:r>
              <a:rPr sz="1400" b="1" i="0">
                <a:solidFill>
                  <a:srgbClr val="2E86C1"/>
                </a:solidFill>
                <a:latin typeface="Calibri"/>
              </a:rPr>
              <a:t>18 (cleaning)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 →  </a:t>
            </a:r>
            <a:r>
              <a:rPr sz="1400" b="1" i="0">
                <a:solidFill>
                  <a:srgbClr val="2E86C1"/>
                </a:solidFill>
                <a:latin typeface="Calibri"/>
              </a:rPr>
              <a:t>35 (feature engineering)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 →  </a:t>
            </a:r>
            <a:r>
              <a:rPr sz="1400" b="1" i="0">
                <a:solidFill>
                  <a:srgbClr val="27AE60"/>
                </a:solidFill>
                <a:latin typeface="Calibri"/>
              </a:rPr>
              <a:t>19 fitur modeling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19 digunakan · 16 dikecualikan (1 identifier + 6 kategorikal mentah + 4 target + 5 grade one-hot).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6.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126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Tahap 1 — Univariate: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distribusi 9 fitur numerik (histogram) + 8 kategorikal (bar); cek pusat &amp; sebaran.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Tahap 2 — Bivariate: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matriks korelasi, top-10 korelasi vs target, scatter top-5, skor-per-grup (boxplot).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Tahap 3 — Outlier: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IQR 1.5× pada fitur kunci → 398 flag, </a:t>
            </a:r>
            <a:r>
              <a:rPr sz="1400" b="1" i="0">
                <a:solidFill>
                  <a:srgbClr val="F39C12"/>
                </a:solidFill>
                <a:latin typeface="Calibri"/>
              </a:rPr>
              <a:t>semua dipertahankan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Temuan: </a:t>
            </a:r>
            <a:r>
              <a:rPr sz="1400" b="1" i="0">
                <a:solidFill>
                  <a:srgbClr val="F39C12"/>
                </a:solidFill>
                <a:latin typeface="Calibri"/>
              </a:rPr>
              <a:t>previous_gpa r = 0.89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— dominan, non-actionable.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27AE60"/>
                </a:solidFill>
                <a:latin typeface="Calibri"/>
              </a:rPr>
              <a:t>study_hours +0.58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(besar); social_media −0.25; assignment/attendance ~0.15.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Demografi (income, ortu, gender):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korelasi praktis nol.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Heatmap = dasar pemilahan </a:t>
            </a:r>
            <a:r>
              <a:rPr sz="1400" b="1" i="0">
                <a:solidFill>
                  <a:srgbClr val="F39C12"/>
                </a:solidFill>
                <a:latin typeface="Calibri"/>
              </a:rPr>
              <a:t>actionable vs non-actionable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di analisis berikut.</a:t>
            </a:r>
          </a:p>
        </p:txBody>
      </p:sp>
      <p:pic>
        <p:nvPicPr>
          <p:cNvPr id="7" name="Picture 6" descr="03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17897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172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08080"/>
                </a:solidFill>
                <a:latin typeface="Calibri"/>
              </a:rPr>
              <a:t>Gambar 1. Correlation Heatmap (lower triangle)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7. H1 — Hasil Korelasi Perilaku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035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study_hours: </a:t>
            </a:r>
            <a:r>
              <a:rPr sz="1500" b="1" i="0">
                <a:solidFill>
                  <a:srgbClr val="27AE60"/>
                </a:solidFill>
                <a:latin typeface="Calibri"/>
              </a:rPr>
              <a:t>r = 0.58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[0.56, 0.59], p ≈ 0 — efek </a:t>
            </a:r>
            <a:r>
              <a:rPr sz="1500" b="1" i="0">
                <a:solidFill>
                  <a:srgbClr val="27AE60"/>
                </a:solidFill>
                <a:latin typeface="Calibri"/>
              </a:rPr>
              <a:t>BESAR (r² = 33%)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social_media: </a:t>
            </a:r>
            <a:r>
              <a:rPr sz="1500" b="1" i="0">
                <a:solidFill>
                  <a:srgbClr val="E74C3C"/>
                </a:solidFill>
                <a:latin typeface="Calibri"/>
              </a:rPr>
              <a:t>r = −0.25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[−0.26, −0.23], p = 4.5e-138 — efek kecil-sedang.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assignment r = 0.17, attendance r = 0.15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— efek kecil.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7AE60"/>
                </a:solidFill>
                <a:latin typeface="Calibri"/>
              </a:rPr>
              <a:t>Semua bertahan signifikan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setelah koreksi Benjamini-Hochberg FDR (keluarga 7 uji).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74C3C"/>
                </a:solidFill>
                <a:latin typeface="Calibri"/>
              </a:rPr>
              <a:t>Pelajaran kunci: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sleep r = 0.028 signifikan (p_adj = 0.007) TAPI r² = 0.08% → negligible.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H1 </a:t>
            </a:r>
            <a:r>
              <a:rPr sz="1500" b="1" i="0">
                <a:solidFill>
                  <a:srgbClr val="27AE60"/>
                </a:solidFill>
                <a:latin typeface="Calibri"/>
              </a:rPr>
              <a:t>DITERIMA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— arah sesuai literatur: belajar (+), media sosial (−).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Framing: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validasi arah temuan literatur, bukan penemuan baru.</a:t>
            </a:r>
          </a:p>
        </p:txBody>
      </p:sp>
      <p:pic>
        <p:nvPicPr>
          <p:cNvPr id="7" name="Picture 6" descr="08_study_habits_by_g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846320" cy="31911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8. H1 — Pembelaan &amp; Aksiionabel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H1 = validasi arah literatur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(bukan klaim penemuan baru) — framing jujur &amp; aman.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Pemisahan actionable vs non-actionable:</a:t>
            </a:r>
          </a:p>
          <a:p>
            <a:pPr lvl="1">
              <a:spcAft>
                <a:spcPts val="600"/>
              </a:spcAft>
            </a:pPr>
            <a:r>
              <a:rPr sz="12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non-actionable (dominan): </a:t>
            </a:r>
          </a:p>
          <a:p>
            <a:pPr lvl="1">
              <a:spcAft>
                <a:spcPts val="600"/>
              </a:spcAft>
            </a:pPr>
            <a:r>
              <a:rPr sz="12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200" b="1" i="0">
                <a:solidFill>
                  <a:srgbClr val="F39C12"/>
                </a:solidFill>
                <a:latin typeface="Calibri"/>
              </a:rPr>
              <a:t>   previous_gpa r = 0.89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— historis, tak bisa diintervensi.</a:t>
            </a:r>
          </a:p>
          <a:p>
            <a:pPr lvl="1">
              <a:spcAft>
                <a:spcPts val="600"/>
              </a:spcAft>
            </a:pPr>
            <a:r>
              <a:rPr sz="12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actionable kuat: </a:t>
            </a:r>
            <a:r>
              <a:rPr sz="1200" b="1" i="0">
                <a:solidFill>
                  <a:srgbClr val="27AE60"/>
                </a:solidFill>
                <a:latin typeface="Calibri"/>
              </a:rPr>
              <a:t>study_hours r = 0.58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→ program belajar.</a:t>
            </a:r>
          </a:p>
          <a:p>
            <a:pPr lvl="1">
              <a:spcAft>
                <a:spcPts val="600"/>
              </a:spcAft>
            </a:pPr>
            <a:r>
              <a:rPr sz="12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actionable moderat: </a:t>
            </a:r>
            <a:r>
              <a:rPr sz="1200" b="1" i="0">
                <a:solidFill>
                  <a:srgbClr val="27AE60"/>
                </a:solidFill>
                <a:latin typeface="Calibri"/>
              </a:rPr>
              <a:t>social_media r = −0.25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→ kampanye digital wellness.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Demografi praktis nol: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χ² semua NS (gender, income, ortu, tutoring, env).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tutoring Cohen's d = −0.018 (NS)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; parental_education η² = 0.0003.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Asumsi linearitas Pearson </a:t>
            </a:r>
            <a:r>
              <a:rPr sz="1400" b="1" i="0">
                <a:solidFill>
                  <a:srgbClr val="F39C12"/>
                </a:solidFill>
                <a:latin typeface="Calibri"/>
              </a:rPr>
              <a:t>divalidasi empirik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: di RQ2 LR (linear) mengalahkan RF (non-linear).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Paradoks internet_access: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t-test p = 0.040 signifikan, TAPI χ² NS &amp; d = 0.07 → negligible.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Kontras: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grade×study_hours η² = 0.2655 (besar) vs parental η² = 0.0003 (nol) di dataset sama.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9. H2 — Hasil Model (Tuned)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CV Acc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7AE60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7AE60"/>
                          </a:solidFill>
                          <a:latin typeface="Calibri"/>
                        </a:rPr>
                        <a:t>0.8705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7AE60"/>
                          </a:solidFill>
                          <a:latin typeface="Calibri"/>
                        </a:rPr>
                        <a:t>0.8648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7AE60"/>
                          </a:solidFill>
                          <a:latin typeface="Calibri"/>
                        </a:rPr>
                        <a:t>0.9457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27AE60"/>
                          </a:solidFill>
                          <a:latin typeface="Calibri"/>
                        </a:rPr>
                        <a:t>0.8610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0.8605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0.8548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0.9376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333333"/>
                          </a:solidFill>
                          <a:latin typeface="Calibri"/>
                        </a:rPr>
                        <a:t>0.8562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288036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Logistic Regression unggul pada </a:t>
            </a:r>
            <a:r>
              <a:rPr sz="1400" b="1" i="0">
                <a:solidFill>
                  <a:srgbClr val="27AE60"/>
                </a:solidFill>
                <a:latin typeface="Calibri"/>
              </a:rPr>
              <a:t>SELURUH 6 metrik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(acc, prec, rec, F1, CV, ROC-AUC).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Confusion matrix: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dari 2000 test, LR benar 1741 (87.05%) vs RF 1721 (86.05%).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Konsistensi 4 tahap: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default &amp; tuned, test &amp; CV — LR selalu menang (bukan kebetulan tuning).</a:t>
            </a:r>
          </a:p>
        </p:txBody>
      </p:sp>
      <p:pic>
        <p:nvPicPr>
          <p:cNvPr id="8" name="Picture 7" descr="12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743200"/>
            <a:ext cx="4754880" cy="17418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08080"/>
                </a:solidFill>
                <a:latin typeface="Calibri"/>
              </a:rPr>
              <a:t>Gambar 2. Confusion Matrix — LR vs RF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10. H2 — Uji Signifikansi &amp; Interpretasi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309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Uji (inti H2): </a:t>
            </a:r>
            <a:r>
              <a:rPr sz="1400" b="1" i="0">
                <a:solidFill>
                  <a:srgbClr val="F39C12"/>
                </a:solidFill>
                <a:latin typeface="Calibri"/>
              </a:rPr>
              <a:t>corrected resampled t-test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(Nadeau-Bengio, 2003).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Hasil: </a:t>
            </a:r>
            <a:r>
              <a:rPr sz="1400" b="1" i="0">
                <a:solidFill>
                  <a:srgbClr val="E74C3C"/>
                </a:solidFill>
                <a:latin typeface="Calibri"/>
              </a:rPr>
              <a:t>t(4) = −3.00, p = 0.040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— signifikan; tanda negatif → LR &gt; RF.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Kenapa corrected, bukan paired t biasa?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fold CV overlap → asumsi independensi dilanggar → paired t optimistis (p_naive = 0.011).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Faktor koreksi = 1/k + n_test/n_train = 0.20 + 0.25 = </a:t>
            </a:r>
            <a:r>
              <a:rPr sz="1400" b="1" i="0">
                <a:solidFill>
                  <a:srgbClr val="F39C12"/>
                </a:solidFill>
                <a:latin typeface="Calibri"/>
              </a:rPr>
              <a:t>0.45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→ SE dibesar 1.5× → t 4.49 → 3.00.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Selisih CV hanya 0.48% TAPI signifikan: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selisih per-fold konsisten arah (sinyal ~2× noise).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Verdict H2: </a:t>
            </a:r>
            <a:r>
              <a:rPr sz="1400" b="1" i="0">
                <a:solidFill>
                  <a:srgbClr val="E74C3C"/>
                </a:solidFill>
                <a:latin typeface="Calibri"/>
              </a:rPr>
              <a:t>TIDAK DIDUKUNG (LR &gt; RF, signifikan)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— bukan "ditolak" yang ambigu.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Interpretasi: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hubungan fitur-target relatif </a:t>
            </a:r>
            <a:r>
              <a:rPr sz="1400" b="1" i="0">
                <a:solidFill>
                  <a:srgbClr val="F39C12"/>
                </a:solidFill>
                <a:latin typeface="Calibri"/>
              </a:rPr>
              <a:t>LINEAR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→ kompleksitas RF tak membantu.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27AE60"/>
                </a:solidFill>
                <a:latin typeface="Calibri"/>
              </a:rPr>
              <a:t>Rekomendasi: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pakai LR — unggul/setara </a:t>
            </a:r>
            <a:r>
              <a:rPr sz="1400" b="1" i="0">
                <a:solidFill>
                  <a:srgbClr val="27AE60"/>
                </a:solidFill>
                <a:latin typeface="Calibri"/>
              </a:rPr>
              <a:t>DAN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interpretable (transparansi pendidikan).</a:t>
            </a:r>
          </a:p>
        </p:txBody>
      </p:sp>
      <p:pic>
        <p:nvPicPr>
          <p:cNvPr id="7" name="Picture 6" descr="19_roc_au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554480"/>
            <a:ext cx="4937760" cy="21016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08080"/>
                </a:solidFill>
                <a:latin typeface="Calibri"/>
              </a:rPr>
              <a:t>Gambar 3. ROC Curves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11.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1206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F39C12"/>
                </a:solidFill>
                <a:latin typeface="Calibri"/>
              </a:rPr>
              <a:t>previous_gpa: 0.42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— dominan, TAPI </a:t>
            </a:r>
            <a:r>
              <a:rPr sz="1500" b="1" i="0">
                <a:solidFill>
                  <a:srgbClr val="E74C3C"/>
                </a:solidFill>
                <a:latin typeface="Calibri"/>
              </a:rPr>
              <a:t>tidak dapat diintervensi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(metrik historis).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study_attendance: 0.097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social_study_ratio: 0.079 · study_hours: 0.079.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productive_hours: 0.056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— prediktor perilaku lainnya kecil.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E74C3C"/>
                </a:solidFill>
                <a:latin typeface="Calibri"/>
              </a:rPr>
              <a:t>Konsekuensi: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prediktor terkuat (GPA) bukan lever yang bisa ditindaklanjuti.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Implikasi: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model "akurat" tidak otomatis "aksiionabel" → lihat ablation (slide berikut).</a:t>
            </a:r>
          </a:p>
        </p:txBody>
      </p:sp>
      <p:pic>
        <p:nvPicPr>
          <p:cNvPr id="7" name="Picture 6" descr="13_rf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620878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12. Ablation — Kontribusi previous_gpa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035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Tanpa previous_gpa: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LR 0.8705 → 0.7575 · RF 0.8605 → 0.7410.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F39C12"/>
                </a:solidFill>
                <a:latin typeface="Calibri"/>
              </a:rPr>
              <a:t>Kontribusi GPA: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~13% (LR) / ~13.9% (RF) relatif — dominan, tapi non-aksiionabel.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7AE60"/>
                </a:solidFill>
                <a:latin typeface="Calibri"/>
              </a:rPr>
              <a:t>Model perilaku-only tetap ~75%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, jauh di atas baseline majority 51.42%.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Tanpa GPA, jarak LR−RF </a:t>
            </a:r>
            <a:r>
              <a:rPr sz="1500" b="1" i="0">
                <a:solidFill>
                  <a:srgbClr val="27AE60"/>
                </a:solidFill>
                <a:latin typeface="Calibri"/>
              </a:rPr>
              <a:t>melebar 1.0% → 1.65%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→ bukti tambahan hubungan linear.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Kontribusi metodologis: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memisahkan prediktor </a:t>
            </a:r>
            <a:r>
              <a:rPr sz="1500" b="1" i="0">
                <a:solidFill>
                  <a:srgbClr val="F39C12"/>
                </a:solidFill>
                <a:latin typeface="Calibri"/>
              </a:rPr>
              <a:t>prediktif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(GPA) dari yang </a:t>
            </a:r>
            <a:r>
              <a:rPr sz="1500" b="1" i="0">
                <a:solidFill>
                  <a:srgbClr val="27AE60"/>
                </a:solidFill>
                <a:latin typeface="Calibri"/>
              </a:rPr>
              <a:t>aksiionabel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(perilaku).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Basis deploy: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model tanpa-GPA (~75%) sebagai early-warning yang aksiionabel.</a:t>
            </a:r>
          </a:p>
        </p:txBody>
      </p:sp>
      <p:pic>
        <p:nvPicPr>
          <p:cNvPr id="7" name="Picture 6" descr="20_ablation_rf_importance_no_g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846320" cy="38542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13. Faktor Demografis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58521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χ² pass/fail vs demografi: </a:t>
            </a:r>
            <a:r>
              <a:rPr sz="1400" b="1" i="0">
                <a:solidFill>
                  <a:srgbClr val="E74C3C"/>
                </a:solidFill>
                <a:latin typeface="Calibri"/>
              </a:rPr>
              <a:t>SEMUA tidak signifikan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(gender, income, ortu, tutoring, env).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tutoring: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t-test p = 0.414 (NS), Cohen's d = −0.018 — nol.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parental_education: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ANOVA η² = 0.0003 — nol.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internet_access paradoks: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t-test p = 0.034 signifikan, TAPI χ² NS, d = 0.07.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Penjelasan: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uji kontinu lebih sensitif; efek terlalu kecil menggeser proporsi lulus.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Kontras: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grade×study_hours η² = 0.2655 (besar) vs parental η² = 0.0003 (nol).</a:t>
            </a:r>
          </a:p>
        </p:txBody>
      </p:sp>
      <p:pic>
        <p:nvPicPr>
          <p:cNvPr id="7" name="Picture 6" descr="09_rq4_demographic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5029200" cy="13879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14. Rekomendasi Intervensi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6035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Sumber: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temuan korelasi perilaku RQ1 (berbasis aturan).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7AE60"/>
                </a:solidFill>
                <a:latin typeface="Calibri"/>
              </a:rPr>
              <a:t>Program 1 — belajar terstruktur: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study_hours prediktor perilaku terkuat (r = 0.58).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27AE60"/>
                </a:solidFill>
                <a:latin typeface="Calibri"/>
              </a:rPr>
              <a:t>Program 2 — kampanye kesadaran media sosial: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korelasi negatif terkonfirmasi (r = −0.25).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Prioritas pada faktor </a:t>
            </a:r>
            <a:r>
              <a:rPr sz="1500" b="1" i="0">
                <a:solidFill>
                  <a:srgbClr val="F39C12"/>
                </a:solidFill>
                <a:latin typeface="Calibri"/>
              </a:rPr>
              <a:t>actionable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(bisa diintervensi), bukan GPA (historis, non-aksionabel).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Intervensi lintas-populasi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— sederhana, dapat diaudit, berlaku untuk semua siswa.</a:t>
            </a:r>
          </a:p>
        </p:txBody>
      </p:sp>
      <p:pic>
        <p:nvPicPr>
          <p:cNvPr id="7" name="Picture 6" descr="04_top_correlation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54480"/>
            <a:ext cx="4846320" cy="9617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5120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08080"/>
                </a:solidFill>
                <a:latin typeface="Calibri"/>
              </a:rPr>
              <a:t>Gambar 4. Korelasi teratas vs skor ujian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15. Pra-Deployment &amp; Etika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E74C3C"/>
                </a:solidFill>
                <a:latin typeface="Calibri"/>
              </a:rPr>
              <a:t>Belum layak deployment operasional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— provenans data belum terverifikasi.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Basis early-warning aksiionabel: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model tanpa-GPA (~75%), bukan model full (GPA non-intervenable).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F39C12"/>
                </a:solidFill>
                <a:latin typeface="Calibri"/>
              </a:rPr>
              <a:t>Risiko self-fulfilling prophecy: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label "at-risk" bisa mengubah perilaku siswa.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F39C12"/>
                </a:solidFill>
                <a:latin typeface="Calibri"/>
              </a:rPr>
              <a:t>Risiko proxy discrimination: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GPA berkorelasi sosio-ekonomi → bias turunan.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Governance: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akses terbatas, human-in-the-loop, hak koreksi siswa, audit berkala.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Prinsip: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prediksi </a:t>
            </a:r>
            <a:r>
              <a:rPr sz="1700" b="1" i="0">
                <a:solidFill>
                  <a:srgbClr val="27AE60"/>
                </a:solidFill>
                <a:latin typeface="Calibri"/>
              </a:rPr>
              <a:t>mendukung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keputusan guru, bukan menggantikan.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16. Keterbatasan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E74C3C"/>
                </a:solidFill>
                <a:latin typeface="Calibri"/>
              </a:rPr>
              <a:t>Data cross-sectional → </a:t>
            </a:r>
            <a:r>
              <a:rPr sz="1700" b="1" i="0">
                <a:solidFill>
                  <a:srgbClr val="E74C3C"/>
                </a:solidFill>
                <a:latin typeface="Calibri"/>
              </a:rPr>
              <a:t>korelasi ≠ kausalitas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(tidak ada manipulasi variabel).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previous_gpa mendominasi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→ kontribusi perilaku sulit diisolasi tanpa ablation.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Provenans tidak terverifikasi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(kemungkinan sintetis) → tidak dapat digeneralisasi tanpa validasi.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Single random_state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(split &amp; CV) → follow-up: repeated CV / bootstrap untuk robustness.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Internet_access: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signifikan statistik tapi d ≈ 0 → hati-hati efek "signifikan namun nol".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17. Sintesis Lintas-RQ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2E86C1"/>
                </a:solidFill>
                <a:latin typeface="Calibri"/>
              </a:rPr>
              <a:t>Benang merah 1 —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"signifikan ≠ penting"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2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H1: sleep r = 0.028 signifikan, r² = 0.08% (negligible).</a:t>
            </a:r>
          </a:p>
          <a:p>
            <a:pPr lvl="1">
              <a:spcAft>
                <a:spcPts val="600"/>
              </a:spcAft>
            </a:pPr>
            <a:r>
              <a:rPr sz="12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H2: selisih CV 0.48% signifikan, tapi kecil.</a:t>
            </a:r>
          </a:p>
          <a:p>
            <a:pPr lvl="1">
              <a:spcAft>
                <a:spcPts val="600"/>
              </a:spcAft>
            </a:pPr>
            <a:r>
              <a:rPr sz="12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→ Di N = 10.000 kami konsisten mengandalkan </a:t>
            </a:r>
            <a:r>
              <a:rPr sz="1200" b="1" i="0">
                <a:solidFill>
                  <a:srgbClr val="F39C12"/>
                </a:solidFill>
                <a:latin typeface="Calibri"/>
              </a:rPr>
              <a:t>effect size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, bukan p-value.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400" b="1" i="0">
                <a:solidFill>
                  <a:srgbClr val="2E86C1"/>
                </a:solidFill>
                <a:latin typeface="Calibri"/>
              </a:rPr>
              <a:t>Benang merah 2 —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GPA dominan menjelaskan kedua verdict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2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H1: GPA r = 0.89 terkuat tapi non-aksiionabel.</a:t>
            </a:r>
          </a:p>
          <a:p>
            <a:pPr lvl="1">
              <a:spcAft>
                <a:spcPts val="600"/>
              </a:spcAft>
            </a:pPr>
            <a:r>
              <a:rPr sz="12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H2: ablation → GPA ~13% akurasi; tanpa GPA LR tetap menang (linear).</a:t>
            </a:r>
          </a:p>
          <a:p>
            <a:pPr lvl="1">
              <a:spcAft>
                <a:spcPts val="600"/>
              </a:spcAft>
            </a:pPr>
            <a:r>
              <a:rPr sz="1200" b="1" i="0">
                <a:solidFill>
                  <a:srgbClr val="F39C12"/>
                </a:solidFill>
                <a:latin typeface="Calibri"/>
              </a:rPr>
              <a:t>   –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→ Kedua RQ = </a:t>
            </a:r>
            <a:r>
              <a:rPr sz="1200" b="1" i="0">
                <a:solidFill>
                  <a:srgbClr val="27AE60"/>
                </a:solidFill>
                <a:latin typeface="Calibri"/>
              </a:rPr>
              <a:t>satu narasi koheren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 tentang prediktif vs aksiionabel.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Calibri"/>
              </a:rPr>
              <a:t>18. Kesimpulan &amp; Kontribusi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9FB6CC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H1 </a:t>
            </a:r>
            <a:r>
              <a:rPr sz="1700" b="1" i="0">
                <a:solidFill>
                  <a:srgbClr val="27AE60"/>
                </a:solidFill>
                <a:latin typeface="Calibri"/>
              </a:rPr>
              <a:t>DITERIMA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— perilaku berkorelasi; arah sesuai literatur.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H2 </a:t>
            </a:r>
            <a:r>
              <a:rPr sz="1700" b="1" i="0">
                <a:solidFill>
                  <a:srgbClr val="F39C12"/>
                </a:solidFill>
                <a:latin typeface="Calibri"/>
              </a:rPr>
              <a:t>TIDAK DIDUKUNG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— LR signifikan mengalahkan RF (p = 0.040); hubungan linear.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7AE60"/>
                </a:solidFill>
                <a:latin typeface="Calibri"/>
              </a:rPr>
              <a:t>KPI ≥ 80% tercapai: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LR 87.05%, RF 86.05%.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E86C1"/>
                </a:solidFill>
                <a:latin typeface="Calibri"/>
              </a:rPr>
              <a:t>Kontribusi metodologis: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kerangka actionable vs non-actionable via ablation.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2E86C1"/>
                </a:solidFill>
                <a:latin typeface="Calibri"/>
              </a:rPr>
              <a:t>Kontribusi ilmiah: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pelaporan transparan keterbatasan + validasi arah literatur.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E86C1"/>
                </a:solidFill>
                <a:latin typeface="Calibri"/>
              </a:rPr>
              <a:t>▸ </a:t>
            </a:r>
            <a:r>
              <a:rPr sz="1700" b="1" i="0">
                <a:solidFill>
                  <a:srgbClr val="333333"/>
                </a:solidFill>
                <a:latin typeface="Calibri"/>
              </a:rPr>
              <a:t>Rekomendasi:</a:t>
            </a:r>
            <a:r>
              <a:rPr sz="1700" b="0" i="0">
                <a:solidFill>
                  <a:srgbClr val="333333"/>
                </a:solidFill>
                <a:latin typeface="Calibri"/>
              </a:rPr>
              <a:t> intervensi berbasis korelasi perilaku; model deploy = tanpa-GPA.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86C1"/>
                </a:solidFill>
                <a:latin typeface="Calibri"/>
              </a:rPr>
              <a:t>Diskusi &amp; Pertanyaan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FB6CC"/>
                </a:solidFill>
                <a:latin typeface="Calibri"/>
              </a:rPr>
              <a:t>Salman Rachmadi — 203012420009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