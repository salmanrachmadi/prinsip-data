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6C1"/>
                </a:solidFill>
                <a:latin typeface="Calibri"/>
              </a:rPr>
              <a:t>PROPOSAL  -  PRINSIP SAINS DATA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Analisis Prediktif Performa Ujian Siswa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Menggunakan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Salman Rachmadi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E86C1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Daftar 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1. Introduction</a:t>
            </a:r>
            <a:r>
              <a:rPr sz="1900" b="0" i="0">
                <a:solidFill>
                  <a:srgbClr val="555F6D"/>
                </a:solidFill>
                <a:latin typeface="Calibri"/>
              </a:rPr>
              <a:t>  Latar belakang &amp; motivasi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2. Objective</a:t>
            </a:r>
            <a:r>
              <a:rPr sz="1900" b="0" i="0">
                <a:solidFill>
                  <a:srgbClr val="555F6D"/>
                </a:solidFill>
                <a:latin typeface="Calibri"/>
              </a:rPr>
              <a:t>  Pertanyaan penelitian &amp; hipotesis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3. Data Source</a:t>
            </a:r>
            <a:r>
              <a:rPr sz="1900" b="0" i="0">
                <a:solidFill>
                  <a:srgbClr val="555F6D"/>
                </a:solidFill>
                <a:latin typeface="Calibri"/>
              </a:rPr>
              <a:t>  Dataset &amp; eksplorasi awal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4. Methodology</a:t>
            </a:r>
            <a:r>
              <a:rPr sz="1900" b="0" i="0">
                <a:solidFill>
                  <a:srgbClr val="555F6D"/>
                </a:solidFill>
                <a:latin typeface="Calibri"/>
              </a:rPr>
              <a:t>  CRISP-DM dalam tiga fase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5. Expected Outcome</a:t>
            </a:r>
            <a:r>
              <a:rPr sz="1900" b="0" i="0">
                <a:solidFill>
                  <a:srgbClr val="555F6D"/>
                </a:solidFill>
                <a:latin typeface="Calibri"/>
              </a:rPr>
              <a:t>  Hasil yang diharapkan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6. Literature Review</a:t>
            </a:r>
            <a:r>
              <a:rPr sz="1900" b="0" i="0">
                <a:solidFill>
                  <a:srgbClr val="555F6D"/>
                </a:solidFill>
                <a:latin typeface="Calibri"/>
              </a:rPr>
              <a:t>  Tinjauan literatur (ringkas)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7. Timeline</a:t>
            </a:r>
            <a:r>
              <a:rPr sz="1900" b="0" i="0">
                <a:solidFill>
                  <a:srgbClr val="555F6D"/>
                </a:solidFill>
                <a:latin typeface="Calibri"/>
              </a:rPr>
              <a:t>  Rencana pengerjaan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Analisis Prediktif Performa Ujian Siswa - Prinsip Sains Data 2025/2026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Latar belakang dan motivasi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D4A"/>
                </a:solidFill>
                <a:latin typeface="Calibri"/>
              </a:rPr>
              <a:t>Mengapa topik ini penting?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21208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1B1B1B"/>
                </a:solidFill>
                <a:latin typeface="Calibri"/>
              </a:rPr>
              <a:t>Faktor non-kognitif berpengaruh.</a:t>
            </a:r>
            <a:r>
              <a:rPr sz="1300" b="0" i="0">
                <a:solidFill>
                  <a:srgbClr val="555F6D"/>
                </a:solidFill>
                <a:latin typeface="Calibri"/>
              </a:rPr>
              <a:t>  Tidur (Okano 2023), media sosial (Malakeh 2022).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1B1B1B"/>
                </a:solidFill>
                <a:latin typeface="Calibri"/>
              </a:rPr>
              <a:t>Data pendidikan kompleks &amp; berdimensi tinggi.</a:t>
            </a:r>
            <a:r>
              <a:rPr sz="1300" b="0" i="0">
                <a:solidFill>
                  <a:srgbClr val="555F6D"/>
                </a:solidFill>
                <a:latin typeface="Calibri"/>
              </a:rPr>
              <a:t>  Sulit ditangkap analisis konvensional (Khan &amp; Ghosh 2021).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1B1B1B"/>
                </a:solidFill>
                <a:latin typeface="Calibri"/>
              </a:rPr>
              <a:t>ML mampu menemukan pola tersembunyi.</a:t>
            </a:r>
            <a:r>
              <a:rPr sz="1300" b="0" i="0">
                <a:solidFill>
                  <a:srgbClr val="555F6D"/>
                </a:solidFill>
                <a:latin typeface="Calibri"/>
              </a:rPr>
              <a:t>  Berguna untuk prediksi &amp; rekomendasi intervensi.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2377440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D4A"/>
                </a:solidFill>
                <a:latin typeface="Calibri"/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B1B"/>
                </a:solidFill>
                <a:latin typeface="Calibri"/>
              </a:rPr>
              <a:t>Student Exam Performance (Kaggle):
- 10.000 siswa, 23 fitur
- 4 kategori: demografis, perilaku belajar,
  nilai akademik, variabel hasil
- Target: pass/fail, grade, final exam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840480"/>
            <a:ext cx="5486400" cy="24688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97763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D4A"/>
                </a:solidFill>
                <a:latin typeface="Calibri"/>
              </a:rPr>
              <a:t>Manfaat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34840"/>
            <a:ext cx="52120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Guru &amp; sekolah:</a:t>
            </a:r>
            <a:r>
              <a:rPr sz="1100" b="0" i="0">
                <a:solidFill>
                  <a:srgbClr val="555F6D"/>
                </a:solidFill>
                <a:latin typeface="Calibri"/>
              </a:rPr>
              <a:t>  deteksi siswa berisiko sejak dini.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Pembuat kebijakan:</a:t>
            </a:r>
            <a:r>
              <a:rPr sz="1100" b="0" i="0">
                <a:solidFill>
                  <a:srgbClr val="555F6D"/>
                </a:solidFill>
                <a:latin typeface="Calibri"/>
              </a:rPr>
              <a:t>  alokasi sumber daya &amp; program lebih tepat.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Orang tua:</a:t>
            </a:r>
            <a:r>
              <a:rPr sz="1100" b="0" i="0">
                <a:solidFill>
                  <a:srgbClr val="555F6D"/>
                </a:solidFill>
                <a:latin typeface="Calibri"/>
              </a:rPr>
              <a:t>  memahami faktor &amp; menciptakan lingkungan belajar.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Analisis Prediktif Performa Ujian Siswa - Prinsip Sains Data 2025/2026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6019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2.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Tiga pertanyaan penelitian dan tiga hipotesis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D4A"/>
                </a:solidFill>
                <a:latin typeface="Calibri"/>
              </a:rPr>
              <a:t>Pertanyaan Penelitian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6560820"/>
                <a:gridCol w="3749040"/>
              </a:tblGrid>
              <a:tr h="457200">
                <a:tc>
                  <a:txBody>
                    <a:bodyPr wrap="square" anchor="ctr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Pertanyaan Penelitian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Metode Analisis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Faktor perilaku belajar apa yang paling berkorelasi dengan performa ujian siswa?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Korelasi Pearson, uji-t, ANOVA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Seberapa efektif model klasifikasi ML dalam memprediksi kelulusan siswa (Pass/Fail)?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Logistic Regression, Random Forest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Rekomendasi intervensi apa yang sesuai untuk setiap profil siswa?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K-Means Clustering, profiling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D4A"/>
                </a:solidFill>
                <a:latin typeface="Calibri"/>
              </a:rPr>
              <a:t>Hipotesis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0690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10309860"/>
              </a:tblGrid>
              <a:tr h="548640">
                <a:tc>
                  <a:txBody>
                    <a:bodyPr wrap="square" anchor="ctr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Hipotesis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Jam belajar per hari berkorelasi positif, jam media sosial berkorelasi negatif dengan nilai ujian akhir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H2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Random Forest Classifier memprediksi kelulusan lebih baik dibanding Logistic Regression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H3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Siswa dapat dikelompokkan ke dalam beberapa cluster dengan kebutuhan intervensi yang berbeda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Analisis Prediktif Performa Ujian Siswa - Prinsip Sains Data 2025/2026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6019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3. 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Student Exam Performance - Kaggle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74320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Jumlah siswa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34440"/>
            <a:ext cx="274320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258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Jumlah fitur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274320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258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8745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Missing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234440"/>
            <a:ext cx="274320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3258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8745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Data duplikat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97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D4A"/>
                </a:solidFill>
                <a:latin typeface="Calibri"/>
              </a:rPr>
              <a:t>Struktur Fitur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5486400" cy="2194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D4A"/>
                </a:solidFill>
                <a:latin typeface="Calibri"/>
              </a:rPr>
              <a:t>Kategorikal (8 kolom)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Calibri"/>
              </a:rPr>
              <a:t>gender, parental_education, family_income,
internet_access, study_environment, tutoring,
pass_fail, grade_category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108960"/>
            <a:ext cx="5486400" cy="2194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00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D4A"/>
                </a:solidFill>
                <a:latin typeface="Calibri"/>
              </a:rPr>
              <a:t>Numerikal (14 kolom)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6616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Calibri"/>
              </a:rPr>
              <a:t>age, study_hours_per_day, attendance_rate,
sleep_hours, social_media_hours,
assignment_completion_rate, participation_score,
online_courses_completed, math_score, reading_score,
writing_score, science_score, final_exam_score, previous_gpa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D4A"/>
                </a:solidFill>
                <a:latin typeface="Calibri"/>
              </a:rPr>
              <a:t>Variabel Target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5806440"/>
          <a:ext cx="1124711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489"/>
                <a:gridCol w="2595489"/>
                <a:gridCol w="6056141"/>
              </a:tblGrid>
              <a:tr h="182880">
                <a:tc>
                  <a:txBody>
                    <a:bodyPr wrap="square" anchor="ctr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Tipe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Deskripsi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</a:tr>
              <a:tr h="182880">
                <a:tc>
                  <a:txBody>
                    <a:bodyPr wrap="square" anchor="ctr"/>
                    <a:lstStyle/>
                    <a:p>
                      <a:r>
                        <a:rPr sz="1100" b="0" i="0">
                          <a:solidFill>
                            <a:srgbClr val="1B1B1B"/>
                          </a:solidFill>
                          <a:latin typeface="Calibri"/>
                        </a:rPr>
                        <a:t>final_exam_score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>
                          <a:solidFill>
                            <a:srgbClr val="1B1B1B"/>
                          </a:solidFill>
                          <a:latin typeface="Calibri"/>
                        </a:rPr>
                        <a:t>Regresi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>
                          <a:solidFill>
                            <a:srgbClr val="1B1B1B"/>
                          </a:solidFill>
                          <a:latin typeface="Calibri"/>
                        </a:rPr>
                        <a:t>Nilai ujian akhir (mean=49.68, std=12.15)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 anchor="ctr"/>
                    <a:lstStyle/>
                    <a:p>
                      <a:r>
                        <a:rPr sz="1100" b="0" i="0">
                          <a:solidFill>
                            <a:srgbClr val="1B1B1B"/>
                          </a:solidFill>
                          <a:latin typeface="Calibri"/>
                        </a:rPr>
                        <a:t>pass_fail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>
                          <a:solidFill>
                            <a:srgbClr val="1B1B1B"/>
                          </a:solidFill>
                          <a:latin typeface="Calibri"/>
                        </a:rPr>
                        <a:t>Klasifikasi biner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>
                          <a:solidFill>
                            <a:srgbClr val="1B1B1B"/>
                          </a:solidFill>
                          <a:latin typeface="Calibri"/>
                        </a:rPr>
                        <a:t>Pass 48.6%  /  Fail 51.4%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</a:tr>
              <a:tr h="182880">
                <a:tc>
                  <a:txBody>
                    <a:bodyPr wrap="square" anchor="ctr"/>
                    <a:lstStyle/>
                    <a:p>
                      <a:r>
                        <a:rPr sz="1100" b="0" i="0">
                          <a:solidFill>
                            <a:srgbClr val="1B1B1B"/>
                          </a:solidFill>
                          <a:latin typeface="Calibri"/>
                        </a:rPr>
                        <a:t>grade_category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>
                          <a:solidFill>
                            <a:srgbClr val="1B1B1B"/>
                          </a:solidFill>
                          <a:latin typeface="Calibri"/>
                        </a:rPr>
                        <a:t>Klasifikasi multikelas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>
                          <a:solidFill>
                            <a:srgbClr val="1B1B1B"/>
                          </a:solidFill>
                          <a:latin typeface="Calibri"/>
                        </a:rPr>
                        <a:t>A 0.1% | B 0.9% | C 9.0% | D 38.3% | F 51.7%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Analisis Prediktif Performa Ujian Siswa - Prinsip Sains Data 2025/2026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6019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3. Data Source - Eksplorasi Awal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Korelasi Pearson terhadap final_exam_score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50292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1508760"/>
              </a:tblGrid>
              <a:tr h="448887">
                <a:tc>
                  <a:txBody>
                    <a:bodyPr wrap="square" anchor="ctr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Fitur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</a:tr>
              <a:tr h="448887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previous_gpa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0.8912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writing_score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0.8745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</a:tr>
              <a:tr h="448887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reading_score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0.8725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math_score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0.8639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</a:tr>
              <a:tr h="448887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science_score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0.8627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study_hours_per_day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0.5758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</a:tr>
              <a:tr h="448887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social_media_hours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-0.2463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assignment_completion_rate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0.1707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</a:tr>
              <a:tr h="448887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attendance_rate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0.1506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participation_score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0.1239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943600" cy="54212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52160" y="5120640"/>
            <a:ext cx="5943600" cy="1097280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521208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D4A"/>
                </a:solidFill>
                <a:latin typeface="Calibri"/>
              </a:rPr>
              <a:t>Insight awal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557784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Calibri"/>
              </a:rPr>
              <a:t>previous_gpa &amp; nilai mata pelajaran sangat kuat (&gt;0.86); study_hours_per_day positif (0.58); social_media_hours negatif (-0.25) -&gt; mendukung H1.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Analisis Prediktif Performa Ujian Siswa - Prinsip Sains Data 2025/2026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6019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4.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Kerangka kerja CRISP-DM - tiga fase analisis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749039" cy="5029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749039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6C1"/>
                </a:solidFill>
                <a:latin typeface="Calibri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RQ1 + 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D4A"/>
                </a:solidFill>
                <a:latin typeface="Calibri"/>
              </a:rPr>
              <a:t>Analisis Korelasi &amp; Uji Statistik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347472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Korelasi Pearson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Independent t-test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One-way ANOVA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Visualisasi: scatter, heatmap, boxplot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749039" cy="5029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749039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258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6C1"/>
                </a:solidFill>
                <a:latin typeface="Calibri"/>
              </a:rPr>
              <a:t>Fase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459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RQ2 + 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4884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D4A"/>
                </a:solidFill>
                <a:latin typeface="Calibri"/>
              </a:rPr>
              <a:t>Klasifikasi 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926080"/>
            <a:ext cx="347472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Logistic Regression (baseline)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Random Forest Classifier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Preprocessing &amp; feature engineering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Evaluasi: Acc, Prec, Recall, F1, CV-5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749039" cy="5029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3749039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3258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6C1"/>
                </a:solidFill>
                <a:latin typeface="Calibri"/>
              </a:rPr>
              <a:t>Fase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459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RQ3 + H3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14884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D4A"/>
                </a:solidFill>
                <a:latin typeface="Calibri"/>
              </a:rPr>
              <a:t>Clustering &amp; Rekomendasi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926080"/>
            <a:ext cx="347472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K-Means Clustering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Elbow &amp; Silhouette Score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Profiling per cluster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Rekomendasi intervensi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Analisis Prediktif Performa Ujian Siswa - Prinsip Sains Data 2025/2026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6019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4. Methodology - Tools &amp;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Python ecosystem untuk seluruh pipeline analisis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127" y="1828800"/>
            <a:ext cx="219456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127" y="187451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Manipulasi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127" y="2468880"/>
            <a:ext cx="2194560" cy="2377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127" y="2606040"/>
            <a:ext cx="219456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B1B1B"/>
                </a:solidFill>
                <a:latin typeface="Calibri"/>
              </a:rPr>
              <a:t>pandas
numpy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6847" y="1828800"/>
            <a:ext cx="219456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6847" y="187451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Visualisasi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6847" y="2468880"/>
            <a:ext cx="2194560" cy="2377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6847" y="2606040"/>
            <a:ext cx="219456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B1B1B"/>
                </a:solidFill>
                <a:latin typeface="Calibri"/>
              </a:rPr>
              <a:t>matplotlib
seaborn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8567" y="1828800"/>
            <a:ext cx="219456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567" y="187451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8567" y="2468880"/>
            <a:ext cx="2194560" cy="2377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8567" y="2606040"/>
            <a:ext cx="219456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B1B1B"/>
                </a:solidFill>
                <a:latin typeface="Calibri"/>
              </a:rPr>
              <a:t>scikit-learn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0287" y="1828800"/>
            <a:ext cx="219456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0287" y="187451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Uji Statistik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0287" y="2468880"/>
            <a:ext cx="2194560" cy="2377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0287" y="2606040"/>
            <a:ext cx="219456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B1B1B"/>
                </a:solidFill>
                <a:latin typeface="Calibri"/>
              </a:rPr>
              <a:t>scipy
statsmodels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2007" y="1828800"/>
            <a:ext cx="219456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2007" y="187451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Lingkungan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62007" y="2468880"/>
            <a:ext cx="2194560" cy="2377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2007" y="2606040"/>
            <a:ext cx="219456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B1B1B"/>
                </a:solidFill>
                <a:latin typeface="Calibri"/>
              </a:rPr>
              <a:t>Jupyter Notebook
Python 3.x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212080"/>
            <a:ext cx="9418320" cy="914400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D4A"/>
                </a:solidFill>
                <a:latin typeface="Calibri"/>
              </a:rPr>
              <a:t>Kerangka kerja: CRISP-DM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509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Calibri"/>
              </a:rPr>
              <a:t>Cross-Industry Standard Process for Data Mining - standar umum proyek analisis data, mendukung iterasi &amp; validasi.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Analisis Prediktif Performa Ujian Siswa - Prinsip Sains Data 2025/2026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6019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5.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Hasil yang diharapkan dari proyek 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Bukti statistik faktor perilaku belajar (RQ1).</a:t>
            </a:r>
            <a:r>
              <a:rPr sz="1700" b="0" i="0">
                <a:solidFill>
                  <a:srgbClr val="555F6D"/>
                </a:solidFill>
                <a:latin typeface="Calibri"/>
              </a:rPr>
              <a:t>  Nilai korelasi &amp; p-value untuk setiap fitur perilaku.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Dua model klasifikasi &amp; perbandingan performanya (RQ2).</a:t>
            </a:r>
            <a:r>
              <a:rPr sz="1700" b="0" i="0">
                <a:solidFill>
                  <a:srgbClr val="555F6D"/>
                </a:solidFill>
                <a:latin typeface="Calibri"/>
              </a:rPr>
              <a:t>  Logistic Regression vs Random Forest pada Acc/Prec/Recall/F1.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Profil cluster siswa &amp; rekomendasi intervensi (RQ3).</a:t>
            </a:r>
            <a:r>
              <a:rPr sz="1700" b="0" i="0">
                <a:solidFill>
                  <a:srgbClr val="555F6D"/>
                </a:solidFill>
                <a:latin typeface="Calibri"/>
              </a:rPr>
              <a:t>  Profiling tiap cluster + rekomendasi yang spesifik.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Pengujian seluruh hipotesis (H1-H3).</a:t>
            </a:r>
            <a:r>
              <a:rPr sz="1700" b="0" i="0">
                <a:solidFill>
                  <a:srgbClr val="555F6D"/>
                </a:solidFill>
                <a:latin typeface="Calibri"/>
              </a:rPr>
              <a:t>  Diterima/ditolak berdasarkan bukti statistik &amp; eksperimen.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Visualisasi yang komunikatif untuk audiens non-teknis.</a:t>
            </a:r>
            <a:r>
              <a:rPr sz="1700" b="0" i="0">
                <a:solidFill>
                  <a:srgbClr val="555F6D"/>
                </a:solidFill>
                <a:latin typeface="Calibri"/>
              </a:rPr>
              <a:t>  Hasil dapat dipahami guru, orang tua, &amp; pembuat kebijakan.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Analisis Prediktif Performa Ujian Siswa - Prinsip Sains Data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6.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Ringkasan tinjauan literatur per area hipotesis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8404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H1 - Faktor Perilaku Belajar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840480" cy="42976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34747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Okano (2023): tidur memprediksi GPA, -0.07/jam.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Malakeh (2022): media sosial -&gt; time displacement -&gt; nilai turun.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Feraco (2023): kebiasaan belajar &amp; motivasi prediktor kuat.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Plak (2022): kehadiran &amp; penyelesaian tugas indikator early warning.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280160"/>
            <a:ext cx="38404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3716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H2 - Klasifikasi 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920240"/>
            <a:ext cx="3840480" cy="42976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057400"/>
            <a:ext cx="34747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Yagci (2022): CRISP-DM andal untuk educational data mining.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Alkan (2025): RF paling konsisten (akurasi 74.3%).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Chen &amp; Zhai (2023): ensemble unggul atas model linear.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Rakitina (2023): RF lebih stabil dibanding LR.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Hussain &amp; Khan (2023): GPA + perilaku -&gt; prediksi terbaik.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6" y="1280160"/>
            <a:ext cx="38404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3716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H3 - Clustering &amp; Rekomendasi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6" y="1920240"/>
            <a:ext cx="3840480" cy="42976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057400"/>
            <a:ext cx="34747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Ouassif (2025): K-Means + Elbow/Silhouette + rekomendasi.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Matz (2023): engagement + sosio-demografis -&gt; profil lebih kaya.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2E86C1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1B1B1B"/>
                </a:solidFill>
                <a:latin typeface="Calibri"/>
              </a:rPr>
              <a:t>Khan &amp; Ghosh (2021): K-Means salah satu teknik EDM terpopuler.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Analisis Prediktif Performa Ujian Siswa - Prinsip Sains Data 2025/2026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6019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7.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Rencana pengerjaan proyek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1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930"/>
                <a:gridCol w="6134792"/>
                <a:gridCol w="3067396"/>
              </a:tblGrid>
              <a:tr h="685800">
                <a:tc>
                  <a:txBody>
                    <a:bodyPr wrap="square" anchor="ctr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Minggu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Aktivitas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91440" marR="91440" marT="36576" marB="36576"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8 (Apr 25)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Proposal submission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Proposal dokumen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Data cleaning, preprocessing, feature engineering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Progress Report 1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</a:tr>
              <a:tr h="685800"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10 - 12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EDA, visualisasi, uji statistik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Progress Report 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13 - 15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Modeling, analisis, kompilasi laporan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Final Report</a:t>
                      </a:r>
                    </a:p>
                  </a:txBody>
                  <a:tcPr marL="91440" marR="91440" marT="36576" marB="36576">
                    <a:solidFill>
                      <a:srgbClr val="E9EFF5"/>
                    </a:solidFill>
                  </a:tcPr>
                </a:tc>
              </a:tr>
              <a:tr h="685800"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Presentasi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Slide presentasi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0B2D4A"/>
                </a:solidFill>
                <a:latin typeface="Calibri"/>
              </a:rPr>
              <a:t>Status saat ini: proposal sedang disubmit (Minggu 8). Selanjutnya: data preprocessing &amp; feature engineering.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Analisis Prediktif Performa Ujian Siswa - Prinsip Sains Data 2025/2026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6019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2E86C1"/>
                </a:solidFill>
                <a:latin typeface="Calibri"/>
              </a:rPr>
              <a:t>Diskusi &amp; Tanya Jawab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Salman Rachmadi  -  Prinsip Sains Data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